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Objects="1">
      <p:cViewPr varScale="1">
        <p:scale>
          <a:sx n="195" d="100"/>
          <a:sy n="195" d="100"/>
        </p:scale>
        <p:origin x="200" y="4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16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DEBRIEF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14-Day Profit Leak &amp; Operational Efficiency Audit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240280"/>
            <a:ext cx="4114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377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Prepared for: [CLIENT COMPANY NAME]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Report Date: [DATE]  |  BaxterLabs Advisory — George DeVries &amp; Alfonso Cordon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809CD5-0246-DEB3-FC8F-385126E9A02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25828" y="199744"/>
            <a:ext cx="365760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66151C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875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Business Overview &amp; Financial Baseline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02920" cy="50292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Profit Leak Findings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502920" cy="50292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3042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Operational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502920" cy="50292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626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Quantified Impact Summary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502920" cy="50292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2102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90-Day Implementation Roadmap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2793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Phase 2 Recommendation &amp; Next Steps</a:t>
            </a:r>
            <a:endParaRPr lang="en-US" sz="15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05887F1-D8B7-0BD7-E954-AA6A61424C5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"/>
            <a:ext cx="50292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Financial baseline and context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3B5D11-2074-5267-4AB3-605715033E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9327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463040"/>
          </a:xfrm>
          <a:prstGeom prst="rect">
            <a:avLst/>
          </a:prstGeom>
          <a:solidFill>
            <a:srgbClr val="66151C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$[X,XXX,XXX]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8F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Trailing 12M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66151C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[XX]%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8F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743200" cy="1463040"/>
          </a:xfrm>
          <a:prstGeom prst="rect">
            <a:avLst/>
          </a:prstGeom>
          <a:solidFill>
            <a:srgbClr val="66151C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[XX]%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8F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EBITDA Margin 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2743200" cy="146304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[N] FTEs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43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651760"/>
            <a:ext cx="2743200" cy="146304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$[XXX,XXX]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04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Revenue per Employee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2743200" cy="1463040"/>
          </a:xfrm>
          <a:prstGeom prst="rect">
            <a:avLst/>
          </a:prstGeom>
          <a:solidFill>
            <a:srgbClr val="D5E8F4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615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[XX]%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Payroll as % of Revenue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[COMPANY NAME]  |  Fiscal Year [YEAR]  |  BaxterLabs Advisory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2291DF-EA5C-11AD-8991-8D89723F63A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"/>
            <a:ext cx="50292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 Leak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Quantified impact by category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AC54BE-B0DD-BA96-2BE3-04B4257F65D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 LEAK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Identified profit leaks by category — annualized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0" cy="530352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075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Overstaffing &amp; Payroll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1325880"/>
            <a:ext cx="109728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325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23444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7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$[AMOUNT]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50292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659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Vendor &amp; Software Overspend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984248"/>
            <a:ext cx="109728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9842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89280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7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$[AMOUNT]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5029200" cy="530352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624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Billing Lag &amp; Revenue Leakage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0" y="2642616"/>
            <a:ext cx="109728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26426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255117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7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$[AMOUNT]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4320" y="3209544"/>
            <a:ext cx="50292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2826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Software Redundancy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23360" y="3300984"/>
            <a:ext cx="109728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33009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20954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7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$[AMOUNT]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74320" y="3867912"/>
            <a:ext cx="5029200" cy="530352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9410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Process Inefficiency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3959352"/>
            <a:ext cx="1097280" cy="347472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39593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38679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7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$[AMOUNT]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5720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RECOVERABLE MARGIN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45720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$[TOTAL AMOUNT]</a:t>
            </a:r>
            <a:endParaRPr lang="en-US" sz="1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CC3E967-8503-674C-0D0B-5E033E221FF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"/>
            <a:ext cx="50292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90-Day Roadmap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Prioritized implementation plan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DBC61-5F74-D8B0-6C2F-F128BD2A5E3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90-DAY IMPLEMENTATION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2926080"/>
          </a:xfrm>
          <a:prstGeom prst="rect">
            <a:avLst/>
          </a:prstGeom>
          <a:solidFill>
            <a:srgbClr val="F2F5F8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B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B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B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389120"/>
            <a:ext cx="2743200" cy="457200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Est. Impact: $[AMOUNT]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1115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Structural Improvements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743200" cy="2926080"/>
          </a:xfrm>
          <a:prstGeom prst="rect">
            <a:avLst/>
          </a:prstGeom>
          <a:solidFill>
            <a:srgbClr val="F2F5F8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880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4389120"/>
            <a:ext cx="2743200" cy="45720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Est. Impact: $[AMOUNT]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868680"/>
            <a:ext cx="2743200" cy="50292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1115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Strategic Initiatives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417320"/>
            <a:ext cx="2743200" cy="2926080"/>
          </a:xfrm>
          <a:prstGeom prst="rect">
            <a:avLst/>
          </a:prstGeom>
          <a:solidFill>
            <a:srgbClr val="F2F5F8"/>
          </a:solidFill>
          <a:ln/>
          <a:effectLst>
            <a:outerShdw blurRad="76200" dist="25400" dir="8100000" algn="bl" rotWithShape="0">
              <a:srgbClr val="2D3436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880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151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389120"/>
            <a:ext cx="2743200" cy="45720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Est. Impact: $[AMOUNT]</a:t>
            </a:r>
            <a:endParaRPr lang="en-US" sz="13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5B47C0D-9E94-8E71-683D-4C9E9E108A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"/>
            <a:ext cx="50292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Discussion and Phase 2 options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B35FD-3E82-C767-6909-883C744AD2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6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Questions? Let's discuss your implementation plan.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560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0136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Review the full diagnostic report and financial workbook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560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2140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Identify internal owner for each 30-day quick win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560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44144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Schedule implementation kick-off call within 2 weeks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560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6148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Consider Phase 2 Retainer for ongoing advisory support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George DeVries  |  george@baxterlabs.com  |  [PHONE]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Alfonso Cordon  |  alfonso@baxterlabs.com  |  [PHONE]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BaxterLabs Advisory  |  baxterlabs.com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CONFIDENTIAL — For Client Use Only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4F0C227-ED65-D0B0-B946-15453E76011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"/>
            <a:ext cx="50292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15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— Detailed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B8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Additional slides may be added here for each profit leak category, workflow analysis, or financial model summary.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5E8F4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[INSERT: Detailed finding slides, workflow diagrams, financial model snapshots]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C9F0AA-8D14-E4E3-83AD-4CC0249062F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"/>
            <a:ext cx="502920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424</Words>
  <Application>Microsoft Macintosh PowerPoint</Application>
  <PresentationFormat>On-screen Show (16:9)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14-Day Profit Leak Audit — Executive Debrief</dc:title>
  <dc:subject>PptxGenJS Presentation</dc:subject>
  <dc:creator>BaxterLabs Advisory</dc:creator>
  <cp:lastModifiedBy>George DeVries</cp:lastModifiedBy>
  <cp:revision>2</cp:revision>
  <dcterms:created xsi:type="dcterms:W3CDTF">2026-02-20T02:16:25Z</dcterms:created>
  <dcterms:modified xsi:type="dcterms:W3CDTF">2026-03-29T15:48:05Z</dcterms:modified>
</cp:coreProperties>
</file>