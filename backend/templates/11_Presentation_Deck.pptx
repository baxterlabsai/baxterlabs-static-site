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52"/>
    <p:restoredTop sz="94610"/>
  </p:normalViewPr>
  <p:slideViewPr>
    <p:cSldViewPr snapToObjects="1">
      <p:cViewPr varScale="1">
        <p:scale>
          <a:sx n="195" d="100"/>
          <a:sy n="195" d="100"/>
        </p:scale>
        <p:origin x="200" y="42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2163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6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73152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DEBRIEF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14-Day Profit Leak &amp; Operational Efficiency Audit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2240280"/>
            <a:ext cx="41148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23774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Prepared for: [CLIENT COMPANY NAME]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8346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Report Date: [DATE]  |  BaxterLabs Advisory — George DeVries &amp; Alfonso Cordon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809CD5-0246-DEB3-FC8F-385126E9A02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025828" y="199744"/>
            <a:ext cx="365760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151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66151C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98755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Business Overview &amp; Financial Baseline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572768"/>
            <a:ext cx="502920" cy="502920"/>
          </a:xfrm>
          <a:prstGeom prst="rect">
            <a:avLst/>
          </a:prstGeom>
          <a:solidFill>
            <a:srgbClr val="D5E8F4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15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645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Profit Leak Findings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502920" cy="502920"/>
          </a:xfrm>
          <a:prstGeom prst="rect">
            <a:avLst/>
          </a:prstGeom>
          <a:solidFill>
            <a:srgbClr val="D5E8F4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2311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15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30428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Operational Analysis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889504"/>
            <a:ext cx="502920" cy="502920"/>
          </a:xfrm>
          <a:prstGeom prst="rect">
            <a:avLst/>
          </a:prstGeom>
          <a:solidFill>
            <a:srgbClr val="D5E8F4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2889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15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2962656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Quantified Impact Summary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547872"/>
            <a:ext cx="502920" cy="502920"/>
          </a:xfrm>
          <a:prstGeom prst="rect">
            <a:avLst/>
          </a:prstGeom>
          <a:solidFill>
            <a:srgbClr val="D5E8F4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5760" y="3547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15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3621024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90-Day Implementation Roadmap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D5E8F4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615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42793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Phase 2 Recommendation &amp; Next Steps</a:t>
            </a:r>
            <a:endParaRPr lang="en-US" sz="15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05887F1-D8B7-0BD7-E954-AA6A61424C5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69164"/>
            <a:ext cx="50292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>
                    <a:alpha val="7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Overview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Financial baseline and context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3B5D11-2074-5267-4AB3-605715033E2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59327"/>
            <a:ext cx="27432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151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43200" cy="1463040"/>
          </a:xfrm>
          <a:prstGeom prst="rect">
            <a:avLst/>
          </a:prstGeom>
          <a:solidFill>
            <a:srgbClr val="66151C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972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5E8F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Trailing 12M Revenue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914400"/>
            <a:ext cx="2743200" cy="1463040"/>
          </a:xfrm>
          <a:prstGeom prst="rect">
            <a:avLst/>
          </a:prstGeom>
          <a:solidFill>
            <a:srgbClr val="66151C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0" y="10972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5E8F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Gross Margin 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914400"/>
            <a:ext cx="2743200" cy="1463040"/>
          </a:xfrm>
          <a:prstGeom prst="rect">
            <a:avLst/>
          </a:prstGeom>
          <a:solidFill>
            <a:srgbClr val="66151C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0972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12648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5E8F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EBITDA Margin 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651760"/>
            <a:ext cx="2743200" cy="1463040"/>
          </a:xfrm>
          <a:prstGeom prst="rect">
            <a:avLst/>
          </a:prstGeom>
          <a:solidFill>
            <a:srgbClr val="D5E8F4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74320" y="283464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615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7432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Total Employees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2651760"/>
            <a:ext cx="2743200" cy="1463040"/>
          </a:xfrm>
          <a:prstGeom prst="rect">
            <a:avLst/>
          </a:prstGeom>
          <a:solidFill>
            <a:srgbClr val="D5E8F4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0" y="283464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615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20040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Revenue per Employee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2651760"/>
            <a:ext cx="2743200" cy="1463040"/>
          </a:xfrm>
          <a:prstGeom prst="rect">
            <a:avLst/>
          </a:prstGeom>
          <a:solidFill>
            <a:srgbClr val="D5E8F4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26480" y="283464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615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12648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Payroll as % of Revenue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48463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02291DF-EA5C-11AD-8991-8D89723F63A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69164"/>
            <a:ext cx="50292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>
                    <a:alpha val="7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Profit Leak Findings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Quantified impact by category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AC54BE-B0DD-BA96-2BE3-04B4257F65D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37160"/>
            <a:ext cx="27432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151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PROFIT LEAK FINDINGS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Identified profit leaks by category — annualized impact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5029200" cy="530352"/>
          </a:xfrm>
          <a:prstGeom prst="rect">
            <a:avLst/>
          </a:prstGeom>
          <a:solidFill>
            <a:srgbClr val="F2F5F8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307592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Overstaffing &amp; Payroll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023360" y="1325880"/>
            <a:ext cx="109728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4023360" y="13258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0" y="1234440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E7B4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74320" y="1892808"/>
            <a:ext cx="5029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196596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Vendor &amp; Software Overspend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23360" y="1984248"/>
            <a:ext cx="109728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1"/>
          <p:cNvSpPr/>
          <p:nvPr/>
        </p:nvSpPr>
        <p:spPr>
          <a:xfrm>
            <a:off x="4023360" y="1984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0" y="1892808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E7B4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74320" y="2551176"/>
            <a:ext cx="5029200" cy="530352"/>
          </a:xfrm>
          <a:prstGeom prst="rect">
            <a:avLst/>
          </a:prstGeom>
          <a:solidFill>
            <a:srgbClr val="F2F5F8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624328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Billing Lag &amp; Revenue Leakage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023360" y="2642616"/>
            <a:ext cx="1097280" cy="34747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264261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0" y="2551176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E7B4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274320" y="3209544"/>
            <a:ext cx="5029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282696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Software Redundancy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023360" y="3300984"/>
            <a:ext cx="1097280" cy="34747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3" name="Text 21"/>
          <p:cNvSpPr/>
          <p:nvPr/>
        </p:nvSpPr>
        <p:spPr>
          <a:xfrm>
            <a:off x="4023360" y="330098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0" y="320954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E7B4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274320" y="3867912"/>
            <a:ext cx="5029200" cy="530352"/>
          </a:xfrm>
          <a:prstGeom prst="rect">
            <a:avLst/>
          </a:prstGeom>
          <a:solidFill>
            <a:srgbClr val="F2F5F8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3941064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Process Inefficiency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023360" y="3959352"/>
            <a:ext cx="1097280" cy="347472"/>
          </a:xfrm>
          <a:prstGeom prst="rect">
            <a:avLst/>
          </a:prstGeom>
          <a:solidFill>
            <a:srgbClr val="1E7B4B"/>
          </a:solidFill>
          <a:ln/>
        </p:spPr>
      </p:sp>
      <p:sp>
        <p:nvSpPr>
          <p:cNvPr id="28" name="Text 26"/>
          <p:cNvSpPr/>
          <p:nvPr/>
        </p:nvSpPr>
        <p:spPr>
          <a:xfrm>
            <a:off x="4023360" y="39593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0" y="386791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E7B4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274320" y="4572000"/>
            <a:ext cx="8595360" cy="384048"/>
          </a:xfrm>
          <a:prstGeom prst="rect">
            <a:avLst/>
          </a:prstGeom>
          <a:solidFill>
            <a:srgbClr val="1E7B4B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5720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TOTAL RECOVERABLE MARGIN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0" y="45720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18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CC3E967-8503-674C-0D0B-5E033E221FF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69164"/>
            <a:ext cx="50292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>
                    <a:alpha val="7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90-Day Roadmap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Prioritized implementation plan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6DBC61-5F74-D8B0-6C2F-F128BD2A5E38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37160"/>
            <a:ext cx="27432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151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90-DAY IMPLEMENTATION ROADMAP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743200" cy="502920"/>
          </a:xfrm>
          <a:prstGeom prst="rect">
            <a:avLst/>
          </a:prstGeom>
          <a:solidFill>
            <a:srgbClr val="1E7B4B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868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Month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11155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Quick Wins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2743200" cy="2926080"/>
          </a:xfrm>
          <a:prstGeom prst="rect">
            <a:avLst/>
          </a:prstGeom>
          <a:solidFill>
            <a:srgbClr val="F2F5F8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5087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7B4B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2D3436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7B4B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2D3436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8803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7B4B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2D3436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4389120"/>
            <a:ext cx="2743200" cy="457200"/>
          </a:xfrm>
          <a:prstGeom prst="rect">
            <a:avLst/>
          </a:prstGeom>
          <a:solidFill>
            <a:srgbClr val="1E7B4B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0" y="868680"/>
            <a:ext cx="2743200" cy="502920"/>
          </a:xfrm>
          <a:prstGeom prst="rect">
            <a:avLst/>
          </a:prstGeom>
          <a:solidFill>
            <a:srgbClr val="66151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868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Month 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00400" y="11155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Structural Improvements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1417320"/>
            <a:ext cx="2743200" cy="2926080"/>
          </a:xfrm>
          <a:prstGeom prst="rect">
            <a:avLst/>
          </a:prstGeom>
          <a:solidFill>
            <a:srgbClr val="F2F5F8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15087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2D3436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21945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2D3436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1840" y="28803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2D3436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0" y="4389120"/>
            <a:ext cx="2743200" cy="457200"/>
          </a:xfrm>
          <a:prstGeom prst="rect">
            <a:avLst/>
          </a:prstGeom>
          <a:solidFill>
            <a:srgbClr val="66151C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0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26480" y="868680"/>
            <a:ext cx="2743200" cy="502920"/>
          </a:xfrm>
          <a:prstGeom prst="rect">
            <a:avLst/>
          </a:prstGeom>
          <a:solidFill>
            <a:srgbClr val="66151C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868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Month 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26480" y="11155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Strategic Initiatives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1417320"/>
            <a:ext cx="2743200" cy="2926080"/>
          </a:xfrm>
          <a:prstGeom prst="rect">
            <a:avLst/>
          </a:prstGeom>
          <a:solidFill>
            <a:srgbClr val="F2F5F8"/>
          </a:solidFill>
          <a:ln/>
          <a:effectLst>
            <a:outerShdw blurRad="76200" dist="25400" dir="8100000" algn="bl" rotWithShape="0">
              <a:srgbClr val="2D3436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217920" y="15087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2D3436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21945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2D3436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28803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6151C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200" dirty="0">
                <a:solidFill>
                  <a:srgbClr val="2D3436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0" y="4389120"/>
            <a:ext cx="2743200" cy="457200"/>
          </a:xfrm>
          <a:prstGeom prst="rect">
            <a:avLst/>
          </a:prstGeom>
          <a:solidFill>
            <a:srgbClr val="66151C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/>
            </a:r>
            <a:endParaRPr lang="en-US" sz="13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45B47C0D-9E94-8E71-683D-4C9E9E108A4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69164"/>
            <a:ext cx="50292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FFFFFF">
                    <a:alpha val="70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Discussion and Phase 2 options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EB35FD-3E82-C767-6909-883C744AD2DF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37160"/>
            <a:ext cx="27432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615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00400"/>
            <a:ext cx="9144000" cy="19431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Questions? Let's discuss your implementation plan.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25603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83080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801368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Review the full diagnostic report and financial workbook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25603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121408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Identify internal owner for each 30-day quick win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25603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423160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2441448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Schedule implementation kick-off call within 2 weeks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25603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43200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2761488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Consider Phase 2 Retainer for ongoing advisory support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337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BaxterLabs Advisory  |  baxterlabs.com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0" y="48463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CONFIDENTIAL — For Client Use Only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4F0C227-ED65-D0B0-B946-15453E760111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69164"/>
            <a:ext cx="502920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66151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Detailed Findings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6B7B8D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>Additional slides may be added here for each profit leak category, workflow analysis, or financial model summary.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5E8F4"/>
                </a:solidFill>
                <a:latin typeface="Arial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C9F0AA-8D14-E4E3-83AD-4CC0249062F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69164"/>
            <a:ext cx="502920" cy="3291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424</Words>
  <Application>Microsoft Macintosh PowerPoint</Application>
  <PresentationFormat>On-screen Show (16:9)</PresentationFormat>
  <Paragraphs>110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14-Day Profit Leak Audit — Executive Debrief</dc:title>
  <dc:subject>PptxGenJS Presentation</dc:subject>
  <dc:creator>BaxterLabs Advisory</dc:creator>
  <cp:lastModifiedBy>George DeVries</cp:lastModifiedBy>
  <cp:revision>2</cp:revision>
  <dcterms:created xsi:type="dcterms:W3CDTF">2026-02-20T02:16:25Z</dcterms:created>
  <dcterms:modified xsi:type="dcterms:W3CDTF">2026-03-29T15:48:05Z</dcterms:modified>
</cp:coreProperties>
</file>